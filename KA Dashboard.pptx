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987" y="91441"/>
            <a:ext cx="11946194" cy="60166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69693"/>
            <a:ext cx="542514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F5F5F5"/>
                </a:solidFill>
                <a:latin typeface="Aptos"/>
              </a:defRPr>
            </a:pPr>
            <a:r>
              <a:rPr dirty="0">
                <a:latin typeface="Garamond" panose="02020404030301010803" pitchFamily="18" charset="0"/>
              </a:rPr>
              <a:t>KEY ACCOUNT OUTLET 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400495"/>
            <a:ext cx="1919115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0">
                <a:solidFill>
                  <a:srgbClr val="B2B2B2"/>
                </a:solidFill>
                <a:latin typeface="Aptos"/>
              </a:defRPr>
            </a:pPr>
            <a:r>
              <a:rPr dirty="0">
                <a:latin typeface="Garamond" panose="02020404030301010803" pitchFamily="18" charset="0"/>
              </a:rPr>
              <a:t>Single View • Volume + Execution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35071" y="27432"/>
            <a:ext cx="1325880" cy="2743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70061" y="38852"/>
            <a:ext cx="798617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141414"/>
                </a:solidFill>
                <a:latin typeface="Aptos"/>
              </a:defRPr>
            </a:pPr>
            <a:r>
              <a:rPr dirty="0">
                <a:latin typeface="Garamond" panose="02020404030301010803" pitchFamily="18" charset="0"/>
              </a:rPr>
              <a:t>MTD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932688"/>
            <a:ext cx="3657600" cy="544068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932688"/>
            <a:ext cx="3657600" cy="4114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961680"/>
            <a:ext cx="117012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NATIONAL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45536" y="1024128"/>
            <a:ext cx="694944" cy="219456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0105" y="1026134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417877"/>
            <a:ext cx="333746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2713" y="1417877"/>
            <a:ext cx="409086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147" y="1417877"/>
            <a:ext cx="348172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Ach.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1653222"/>
            <a:ext cx="545342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8824" y="1657069"/>
            <a:ext cx="562975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4,800 HL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7439" y="1657069"/>
            <a:ext cx="40588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23AA5A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104%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193852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4632" y="1938528"/>
            <a:ext cx="2884627" cy="91440"/>
          </a:xfrm>
          <a:prstGeom prst="rect">
            <a:avLst/>
          </a:prstGeom>
          <a:solidFill>
            <a:srgbClr val="23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58312" y="191566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6525" y="1994037"/>
            <a:ext cx="466794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23AA5A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2773363"/>
            <a:ext cx="954107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Cold Availability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5993" y="277721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13" y="277721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" y="305866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84632" y="3058668"/>
            <a:ext cx="2551785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58312" y="303580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31101" y="3114178"/>
            <a:ext cx="372218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Watch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3893503"/>
            <a:ext cx="966931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Visit Completion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57903" y="3897350"/>
            <a:ext cx="41389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13" y="389735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" y="417880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84632" y="4178808"/>
            <a:ext cx="266273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58312" y="415594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31101" y="4234318"/>
            <a:ext cx="372218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Watch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5013643"/>
            <a:ext cx="817853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JP Adherence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5993" y="501749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13" y="501749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E8A0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88%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" y="529894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84632" y="5298948"/>
            <a:ext cx="2440838" cy="91440"/>
          </a:xfrm>
          <a:prstGeom prst="rect">
            <a:avLst/>
          </a:prstGeom>
          <a:solidFill>
            <a:srgbClr val="E8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258312" y="527608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92015" y="5354458"/>
            <a:ext cx="311304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E8A0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Gap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0520" y="932688"/>
            <a:ext cx="3657600" cy="260604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160520" y="932688"/>
            <a:ext cx="3657600" cy="4114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297680" y="961680"/>
            <a:ext cx="66717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ALEX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86016" y="1024128"/>
            <a:ext cx="694944" cy="219456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50585" y="1026134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25112" y="1417877"/>
            <a:ext cx="333746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KPI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3194" y="1417877"/>
            <a:ext cx="409086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Target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95628" y="1417877"/>
            <a:ext cx="348172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Ach.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5112" y="1653222"/>
            <a:ext cx="545342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Volume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9305" y="1657069"/>
            <a:ext cx="562975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1,350 HL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7920" y="1657069"/>
            <a:ext cx="40588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23AA5A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108%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25112" y="193852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325112" y="1938528"/>
            <a:ext cx="2995574" cy="91440"/>
          </a:xfrm>
          <a:prstGeom prst="rect">
            <a:avLst/>
          </a:prstGeom>
          <a:solidFill>
            <a:srgbClr val="23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098792" y="191566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077006" y="1994037"/>
            <a:ext cx="466794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23AA5A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On Track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25112" y="2064703"/>
            <a:ext cx="954107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Cold Availability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474" y="206855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77994" y="206855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5112" y="235000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325112" y="2350008"/>
            <a:ext cx="2607259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098792" y="232714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171582" y="2405518"/>
            <a:ext cx="372218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Watch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25112" y="2476183"/>
            <a:ext cx="966931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Visit Completion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98384" y="2480030"/>
            <a:ext cx="41389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100%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7994" y="248003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98%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25112" y="2761487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325112" y="2761487"/>
            <a:ext cx="2718206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098792" y="2738627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171582" y="2816997"/>
            <a:ext cx="372218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Watch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25112" y="2887663"/>
            <a:ext cx="817853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JP Adherence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46474" y="289151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86010" y="2891510"/>
            <a:ext cx="35779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91%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25112" y="317296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4325112" y="3172968"/>
            <a:ext cx="2524048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098792" y="315010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171582" y="3228478"/>
            <a:ext cx="372218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Watch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01000" y="932688"/>
            <a:ext cx="3657600" cy="260604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8001000" y="932688"/>
            <a:ext cx="3657600" cy="4114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138160" y="961680"/>
            <a:ext cx="1117614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CHANDRA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826496" y="1024128"/>
            <a:ext cx="694944" cy="219456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995073" y="1026134"/>
            <a:ext cx="35779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91%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65592" y="1417877"/>
            <a:ext cx="333746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KPI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43674" y="1417877"/>
            <a:ext cx="409086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Target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36108" y="1417877"/>
            <a:ext cx="348172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Ach.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65592" y="1653222"/>
            <a:ext cx="545342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Volume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89785" y="1657069"/>
            <a:ext cx="562975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1,200 HL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18474" y="1657069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65592" y="193852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8165592" y="1938528"/>
            <a:ext cx="266273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10939272" y="191566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1012062" y="1994037"/>
            <a:ext cx="372218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Watch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65592" y="2064703"/>
            <a:ext cx="954107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Cold Availability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86954" y="206855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95%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18474" y="206855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65592" y="235000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8165592" y="2350008"/>
            <a:ext cx="249631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10939272" y="232714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1012062" y="2405518"/>
            <a:ext cx="372218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Watch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65592" y="2476183"/>
            <a:ext cx="966931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Visit Completion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38864" y="2480030"/>
            <a:ext cx="41389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100%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018474" y="248003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165592" y="2761487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8165592" y="2761487"/>
            <a:ext cx="257952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0939272" y="2738627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1012062" y="2816997"/>
            <a:ext cx="372218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Watch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65592" y="2887663"/>
            <a:ext cx="817853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JP Adherence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86954" y="289151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018474" y="289151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E8A0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84%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65592" y="317296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8165592" y="3172968"/>
            <a:ext cx="2329891" cy="91440"/>
          </a:xfrm>
          <a:prstGeom prst="rect">
            <a:avLst/>
          </a:prstGeom>
          <a:solidFill>
            <a:srgbClr val="E8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10939272" y="315010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1072976" y="3228478"/>
            <a:ext cx="311304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E8A0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Gap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160520" y="3767328"/>
            <a:ext cx="3657600" cy="260604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4160520" y="3767328"/>
            <a:ext cx="3657600" cy="4114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297680" y="3796319"/>
            <a:ext cx="67499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NANI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986016" y="3858768"/>
            <a:ext cx="694944" cy="219456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7150585" y="3860774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98%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325112" y="4252517"/>
            <a:ext cx="333746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KPI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403194" y="4252517"/>
            <a:ext cx="409086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Target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195628" y="4252517"/>
            <a:ext cx="348172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Ach.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25112" y="4487863"/>
            <a:ext cx="545342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Volume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49305" y="4491710"/>
            <a:ext cx="562975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1,450 HL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145934" y="4491710"/>
            <a:ext cx="39786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23AA5A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112%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325112" y="477316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4325112" y="4773168"/>
            <a:ext cx="3106521" cy="91440"/>
          </a:xfrm>
          <a:prstGeom prst="rect">
            <a:avLst/>
          </a:prstGeom>
          <a:solidFill>
            <a:srgbClr val="23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098792" y="475030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7077006" y="4828678"/>
            <a:ext cx="466794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23AA5A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On Track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325112" y="4899343"/>
            <a:ext cx="954107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Cold Availability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46474" y="490319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95%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77994" y="490319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95%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325112" y="518464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4325112" y="5184648"/>
            <a:ext cx="2634996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7098792" y="516178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7171582" y="5240158"/>
            <a:ext cx="372218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Watch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325112" y="5310823"/>
            <a:ext cx="966931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Visit Completion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98384" y="5314670"/>
            <a:ext cx="41389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100%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177994" y="531467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97%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325112" y="559612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4325112" y="5596128"/>
            <a:ext cx="2690469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7098792" y="557326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7171582" y="5651638"/>
            <a:ext cx="372218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Watch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25112" y="5722303"/>
            <a:ext cx="817853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JP Adherence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446474" y="572615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90%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177994" y="572615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E8A0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89%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325112" y="600760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4325112" y="6007608"/>
            <a:ext cx="2468575" cy="91440"/>
          </a:xfrm>
          <a:prstGeom prst="rect">
            <a:avLst/>
          </a:prstGeom>
          <a:solidFill>
            <a:srgbClr val="E8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098792" y="598474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232496" y="6063118"/>
            <a:ext cx="311304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E8A0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Gap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001000" y="3767328"/>
            <a:ext cx="3657600" cy="260604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8001000" y="3767328"/>
            <a:ext cx="3657600" cy="411480"/>
          </a:xfrm>
          <a:prstGeom prst="round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8138160" y="3796319"/>
            <a:ext cx="153420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KA MANAGER 4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826496" y="3858768"/>
            <a:ext cx="694944" cy="219456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0991065" y="3860774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90%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165592" y="4252517"/>
            <a:ext cx="333746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KPI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3674" y="4252517"/>
            <a:ext cx="409086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Target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036108" y="4252517"/>
            <a:ext cx="348172" cy="20005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7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Ach.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165592" y="4487863"/>
            <a:ext cx="545342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Volume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160318" y="4491710"/>
            <a:ext cx="492443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800 HL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978400" y="4491710"/>
            <a:ext cx="40588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23AA5A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100%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165592" y="477316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8165592" y="4773168"/>
            <a:ext cx="2773680" cy="91440"/>
          </a:xfrm>
          <a:prstGeom prst="rect">
            <a:avLst/>
          </a:prstGeom>
          <a:solidFill>
            <a:srgbClr val="23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10939272" y="475030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0917486" y="4828678"/>
            <a:ext cx="466794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23AA5A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On Track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165592" y="4899343"/>
            <a:ext cx="954107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Cold Availability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286954" y="490319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95%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1018474" y="490319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E8A0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88%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165592" y="518464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8165592" y="5184648"/>
            <a:ext cx="2440838" cy="91440"/>
          </a:xfrm>
          <a:prstGeom prst="rect">
            <a:avLst/>
          </a:prstGeom>
          <a:solidFill>
            <a:srgbClr val="E8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10939272" y="516178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1072976" y="5240158"/>
            <a:ext cx="311304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E8A0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Gap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165592" y="5310823"/>
            <a:ext cx="966931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Visit Completion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238864" y="5314670"/>
            <a:ext cx="41389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100%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026490" y="5314670"/>
            <a:ext cx="357790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91%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8165592" y="559612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8165592" y="5596128"/>
            <a:ext cx="2524048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10939272" y="557326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11012062" y="5651638"/>
            <a:ext cx="372218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D4AF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Watch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165592" y="5722303"/>
            <a:ext cx="817853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1">
                <a:solidFill>
                  <a:srgbClr val="F5F5F5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JP Adherence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286954" y="572615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90%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018474" y="5726150"/>
            <a:ext cx="365806" cy="2154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800" b="1">
                <a:solidFill>
                  <a:srgbClr val="E8A0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82%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165592" y="6007608"/>
            <a:ext cx="3328416" cy="9144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8165592" y="6007608"/>
            <a:ext cx="2274417" cy="91440"/>
          </a:xfrm>
          <a:prstGeom prst="rect">
            <a:avLst/>
          </a:prstGeom>
          <a:solidFill>
            <a:srgbClr val="E8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10939272" y="5984748"/>
            <a:ext cx="16459" cy="137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1072976" y="6063118"/>
            <a:ext cx="311304" cy="1815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580" b="0">
                <a:solidFill>
                  <a:srgbClr val="E8A037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Gap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686800" y="438912"/>
            <a:ext cx="109728" cy="73152"/>
          </a:xfrm>
          <a:prstGeom prst="rect">
            <a:avLst/>
          </a:prstGeom>
          <a:solidFill>
            <a:srgbClr val="23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8833104" y="370164"/>
            <a:ext cx="425116" cy="192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65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≥100%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9345168" y="438912"/>
            <a:ext cx="109728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9491472" y="370164"/>
            <a:ext cx="449162" cy="192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65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90–99%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0058400" y="438912"/>
            <a:ext cx="109728" cy="73152"/>
          </a:xfrm>
          <a:prstGeom prst="rect">
            <a:avLst/>
          </a:prstGeom>
          <a:solidFill>
            <a:srgbClr val="E8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10204704" y="370164"/>
            <a:ext cx="449162" cy="192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650" b="0">
                <a:solidFill>
                  <a:srgbClr val="B2B2B2"/>
                </a:solidFill>
                <a:latin typeface="Aptos"/>
              </a:defRPr>
            </a:pPr>
            <a:r>
              <a:rPr>
                <a:latin typeface="Garamond" panose="02020404030301010803" pitchFamily="18" charset="0"/>
              </a:rPr>
              <a:t>80–89%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10753344" y="438912"/>
            <a:ext cx="109728" cy="73152"/>
          </a:xfrm>
          <a:prstGeom prst="rect">
            <a:avLst/>
          </a:prstGeom>
          <a:solidFill>
            <a:srgbClr val="D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ramond" panose="02020404030301010803" pitchFamily="18" charset="0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10899648" y="370164"/>
            <a:ext cx="386644" cy="192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650" b="0">
                <a:solidFill>
                  <a:srgbClr val="B2B2B2"/>
                </a:solidFill>
                <a:latin typeface="Aptos"/>
              </a:defRPr>
            </a:pPr>
            <a:r>
              <a:rPr dirty="0">
                <a:latin typeface="Garamond" panose="02020404030301010803" pitchFamily="18" charset="0"/>
              </a:rPr>
              <a:t>&lt;80%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200</Words>
  <Application>Microsoft Office PowerPoint</Application>
  <PresentationFormat>Widescreen</PresentationFormat>
  <Paragraphs>112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Garamond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Natnael Tesfagiorgis</cp:lastModifiedBy>
  <cp:revision>6</cp:revision>
  <dcterms:created xsi:type="dcterms:W3CDTF">2013-01-27T09:14:16Z</dcterms:created>
  <dcterms:modified xsi:type="dcterms:W3CDTF">2026-05-25T14:33:25Z</dcterms:modified>
  <cp:category/>
</cp:coreProperties>
</file>